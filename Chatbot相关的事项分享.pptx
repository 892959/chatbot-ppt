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CCCC"/>
                </a:solidFill>
                <a:latin typeface="Microsoft YaHei"/>
              </a:rPr>
              <a:t>NETEASE GAMES · CUSTOMER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Chatbot 相关的事项分享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DDDD"/>
                </a:solidFill>
                <a:latin typeface="Microsoft YaHei"/>
              </a:rPr>
              <a:t>AI-Assisted Live Service Chatbot · Review &amp; 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69080"/>
            <a:ext cx="100584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EEEE"/>
                </a:solidFill>
                <a:latin typeface="Microsoft YaHei"/>
              </a:rPr>
              <a:t>qzt    ·    精灵运营部月度分享    ·    2026.07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CCCC"/>
                </a:solidFill>
                <a:latin typeface="Microsoft YaHei"/>
              </a:rPr>
              <a:t>—— 网易内部商业机密，请勿外传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5989320"/>
            <a:ext cx="1645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網易 NETEASE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Contents · Chatbot Sharing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54864" cy="1417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2024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C00000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5740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04040"/>
                </a:solidFill>
                <a:latin typeface="Microsoft YaHei"/>
              </a:rP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606040"/>
            <a:ext cx="3840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机器人一环扣一环，chatbot 是最后一环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4864" cy="1417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2024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C00000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04040"/>
                </a:solidFill>
                <a:latin typeface="Microsoft YaHei"/>
              </a:rPr>
              <a:t>困难与解法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606040"/>
            <a:ext cx="3840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采纳率为什么低？我们做了什么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57600"/>
            <a:ext cx="54864" cy="1417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5760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C00000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79476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04040"/>
                </a:solidFill>
                <a:latin typeface="Microsoft YaHei"/>
              </a:rPr>
              <a:t>方法论沉淀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343400"/>
            <a:ext cx="3840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从 embedding 到「面粉与蛋糕」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54864" cy="14173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657600"/>
            <a:ext cx="146304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C00000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794760"/>
            <a:ext cx="38404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100" b="1">
                <a:solidFill>
                  <a:srgbClr val="404040"/>
                </a:solidFill>
                <a:latin typeface="Microsoft YaHei"/>
              </a:rPr>
              <a:t>未来愿景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343400"/>
            <a:ext cx="38404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手动 → 半托管 → 全托管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0" b="1">
                <a:solidFill>
                  <a:srgbClr val="C00000"/>
                </a:solidFill>
                <a:latin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3327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一个玩家进线，背后是一条</a:t>
            </a:r>
            <a:r>
              <a:rPr sz="3000" b="1">
                <a:solidFill>
                  <a:srgbClr val="FF7600"/>
                </a:solidFill>
                <a:latin typeface="Microsoft YaHei"/>
              </a:rPr>
              <a:t>环环相扣</a:t>
            </a:r>
            <a:r>
              <a:rPr sz="3000" b="1">
                <a:solidFill>
                  <a:srgbClr val="FFFFFF"/>
                </a:solidFill>
                <a:latin typeface="Microsoft YaHei"/>
              </a:rPr>
              <a:t>的 AI 流水线。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而 chatbot，是直接面向客服的</a:t>
            </a:r>
            <a:r>
              <a:rPr sz="3000" b="1">
                <a:solidFill>
                  <a:srgbClr val="FF7600"/>
                </a:solidFill>
                <a:latin typeface="Microsoft YaHei"/>
              </a:rPr>
              <a:t>最后一环</a:t>
            </a:r>
            <a:r>
              <a:rPr sz="3000" b="1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8056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AAAAAA"/>
                </a:solidFill>
                <a:latin typeface="Microsoft YaHei"/>
              </a:rPr>
              <a:t>— 它能不能用、好不好用，决定了前面所有环节的价值能否兑现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Chatbot 长什么样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In the agent workbench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874519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28799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404040"/>
                </a:solidFill>
                <a:latin typeface="Microsoft YaHei"/>
              </a:rPr>
              <a:t>嵌在聚星工作台会话流中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58567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玩家话术下方实时浮现「AI 推荐回复」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898647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98647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52927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404040"/>
                </a:solidFill>
                <a:latin typeface="Microsoft YaHei"/>
              </a:rPr>
              <a:t>三种使用方式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82695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一键发送 · 复制到编辑框 · 手动复制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22775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22775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77055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404040"/>
                </a:solidFill>
                <a:latin typeface="Microsoft YaHei"/>
              </a:rPr>
              <a:t>后验证拦截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06823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不可用话术→拦截，显示「暂无话术推荐」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46903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46903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901183"/>
            <a:ext cx="45720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50" b="1">
                <a:solidFill>
                  <a:srgbClr val="404040"/>
                </a:solidFill>
                <a:latin typeface="Microsoft YaHei"/>
              </a:rPr>
              <a:t>0428 正式上线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30951"/>
            <a:ext cx="47548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覆盖 ma75(光遇) + xyq(梦幻西游) 等业务线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783080"/>
            <a:ext cx="5212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874519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Microsoft YaHei"/>
              </a:rPr>
              <a:t>🤖 AI 推荐回复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12848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04040"/>
                </a:solidFill>
                <a:latin typeface="Microsoft YaHei"/>
              </a:rPr>
              <a:t>“理解大佬的心情，可以多留意后续活动哦~”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606040"/>
            <a:ext cx="1828800" cy="32918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606040"/>
            <a:ext cx="182880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复制并粘贴到输入框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2606040"/>
            <a:ext cx="11430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2606040"/>
            <a:ext cx="1143000" cy="32918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C00000"/>
                </a:solidFill>
                <a:latin typeface="Microsoft YaHei"/>
              </a:rPr>
              <a:t>一键发送</a:t>
            </a:r>
          </a:p>
        </p:txBody>
      </p:sp>
      <p:pic>
        <p:nvPicPr>
          <p:cNvPr id="31" name="Picture 30" descr="聚星工作台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154680"/>
            <a:ext cx="5212080" cy="256967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9360" y="5989320"/>
            <a:ext cx="5212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聚星工作台真实界面 —— 红框处即 chatbot 推荐话术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机器人一环扣一环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An end-to-end AI service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210312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4040"/>
                </a:solidFill>
                <a:latin typeface="Microsoft YaHei"/>
              </a:rPr>
              <a:t>VOC 意图识别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进人工前对话
→ 三级意图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103120"/>
            <a:ext cx="32004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10312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04288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4040"/>
                </a:solidFill>
                <a:latin typeface="Microsoft YaHei"/>
              </a:rPr>
              <a:t>AX 工具执行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61488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一个VOC调一个工具
查知识库/数据/后台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103120"/>
            <a:ext cx="32004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03120"/>
            <a:ext cx="2468880" cy="1371600"/>
          </a:xfrm>
          <a:prstGeom prst="roundRect">
            <a:avLst/>
          </a:prstGeom>
          <a:solidFill>
            <a:srgbClr val="F7E9E9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304288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Microsoft YaHei"/>
              </a:rPr>
              <a:t>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761488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工具结果+上下文
→ 推荐话术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2103120"/>
            <a:ext cx="320040" cy="13716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400" b="1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03120"/>
            <a:ext cx="2468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304288"/>
            <a:ext cx="24688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404040"/>
                </a:solidFill>
                <a:latin typeface="Microsoft YaHei"/>
              </a:rPr>
              <a:t>人工客服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761488"/>
            <a:ext cx="24688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</a:rPr>
              <a:t>一键发送 / 编辑 / 复制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160520"/>
            <a:ext cx="292608" cy="29260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160520"/>
            <a:ext cx="29260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14800"/>
            <a:ext cx="10332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404040"/>
                </a:solidFill>
                <a:latin typeface="Microsoft YaHei"/>
              </a:rPr>
              <a:t>上游决定下游：</a:t>
            </a:r>
            <a:r>
              <a:rPr sz="1350" b="0">
                <a:solidFill>
                  <a:srgbClr val="666666"/>
                </a:solidFill>
                <a:latin typeface="Microsoft YaHei"/>
              </a:rPr>
              <a:t>VOC 不准→工具调错→话术再漂亮也没用。chatbot 是最后一环，也是「兜底」与「放大器」。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5029200"/>
            <a:ext cx="292608" cy="29260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29200"/>
            <a:ext cx="29260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83480"/>
            <a:ext cx="10332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404040"/>
                </a:solidFill>
                <a:latin typeface="Microsoft YaHei"/>
              </a:rPr>
              <a:t>chatbot 的输入：</a:t>
            </a:r>
            <a:r>
              <a:rPr sz="1350" b="0">
                <a:solidFill>
                  <a:srgbClr val="666666"/>
                </a:solidFill>
                <a:latin typeface="Microsoft YaHei"/>
              </a:rPr>
              <a:t>① AX 工具执行结果(主) ② 玩家与客服上下文 ③ 玩家当前发言 → 输出一句可直接用的推荐话术。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上线成果速览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Key metrics since 0428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600" b="1">
                <a:solidFill>
                  <a:srgbClr val="2563EB"/>
                </a:solidFill>
                <a:latin typeface="Microsoft YaHei"/>
              </a:rPr>
              <a:t>3.80%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辅助占比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理论上限 36.7%，约 9 倍空间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1031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1460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600" b="1">
                <a:solidFill>
                  <a:srgbClr val="FF7600"/>
                </a:solidFill>
                <a:latin typeface="Microsoft YaHei"/>
              </a:rPr>
              <a:t>66.61%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话术推荐率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4048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有多少消息生成了推荐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514600"/>
            <a:ext cx="338328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600" b="1">
                <a:solidFill>
                  <a:srgbClr val="C00000"/>
                </a:solidFill>
                <a:latin typeface="Microsoft YaHei"/>
              </a:rPr>
              <a:t>55.10%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推荐可用率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4048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推荐话术中可用的比例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从 5/8 的 2.03% 到 5/27 的 4.88%，闲聊能力、提示词优化每次迭代都带来肉眼可见的跃升 —— 但距离天花板，我们才走了不到 1/9。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大模型靠啥理解文字？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Word Embedding · 词嵌入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</a:rPr>
              <a:t>📖 知识加油站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Microsoft YaHei"/>
              </a:rPr>
              <a:t>充值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00000"/>
                </a:solidFill>
                <a:latin typeface="Microsoft YaHei"/>
              </a:rPr>
              <a:t>[0.82, -0.11, …]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78308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Microsoft YaHei"/>
              </a:rPr>
              <a:t>没到账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00000"/>
                </a:solidFill>
                <a:latin typeface="Microsoft YaHei"/>
              </a:rPr>
              <a:t>[0.79, -0.09, …]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Microsoft YaHei"/>
              </a:rPr>
              <a:t>退款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00000"/>
                </a:solidFill>
                <a:latin typeface="Microsoft YaHei"/>
              </a:rPr>
              <a:t>[0.75, 0.20, …]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783080"/>
            <a:ext cx="24688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404040"/>
                </a:solidFill>
                <a:latin typeface="Microsoft YaHei"/>
              </a:rPr>
              <a:t>封号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194560"/>
            <a:ext cx="24688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C00000"/>
                </a:solidFill>
                <a:latin typeface="Microsoft YaHei"/>
              </a:rPr>
              <a:t>[-0.30, 0.66, …]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2916936"/>
            <a:ext cx="292608" cy="29260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16936"/>
            <a:ext cx="29260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880360"/>
            <a:ext cx="103327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404040"/>
                </a:solidFill>
                <a:latin typeface="Microsoft YaHei"/>
              </a:rPr>
              <a:t>文字 → 向量：</a:t>
            </a:r>
            <a:r>
              <a:rPr sz="1350" b="0">
                <a:solidFill>
                  <a:srgbClr val="666666"/>
                </a:solidFill>
                <a:latin typeface="Microsoft YaHei"/>
              </a:rPr>
              <a:t>模型把每个词变成一串数字(向量)，意思相近的词向量也相近——“充值”和“没到账”挨得近，“封号”离得远。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3739896"/>
            <a:ext cx="292608" cy="29260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739896"/>
            <a:ext cx="29260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703320"/>
            <a:ext cx="103327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404040"/>
                </a:solidFill>
                <a:latin typeface="Microsoft YaHei"/>
              </a:rPr>
              <a:t>这是 VOC 识别的底层：</a:t>
            </a:r>
            <a:r>
              <a:rPr sz="1350" b="0">
                <a:solidFill>
                  <a:srgbClr val="666666"/>
                </a:solidFill>
                <a:latin typeface="Microsoft YaHei"/>
              </a:rPr>
              <a:t>玩家说“我钱扣了东西没给我”，模型靠 embedding 判断它和“充值未到账”是一类，不需写死规则。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4562856"/>
            <a:ext cx="292608" cy="29260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562856"/>
            <a:ext cx="292608" cy="29260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526280"/>
            <a:ext cx="1033272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404040"/>
                </a:solidFill>
                <a:latin typeface="Microsoft YaHei"/>
              </a:rPr>
              <a:t>这也是 chatbot 的底层：</a:t>
            </a:r>
            <a:r>
              <a:rPr sz="1350" b="0">
                <a:solidFill>
                  <a:srgbClr val="666666"/>
                </a:solidFill>
                <a:latin typeface="Microsoft YaHei"/>
              </a:rPr>
              <a:t>理解上下文、匹配知识库、生成话术，全靠把语言压进同一个“语义空间”再计算距离。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C00000"/>
                </a:solidFill>
                <a:latin typeface="Microsoft YaHei"/>
              </a:rPr>
              <a:t>💡 一句话：embedding 把「语言」翻译成机器能算的「坐标」。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采纳率为什么上不去？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Three bottlenecks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3383280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① 客服操作习惯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08960"/>
            <a:ext cx="29260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习惯自己打字，点选推荐的意愿待提升。工具再好，不用 = 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1031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103120"/>
            <a:ext cx="3383280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42316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② 上游 AX 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08960"/>
            <a:ext cx="29260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进人工只自动调一次工具，VOC 错了/玩家提新问题，结果就不匹配，话术失真。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3383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383280" cy="914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423160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③ 话术拦截过严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108960"/>
            <a:ext cx="29260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Microsoft YaHei"/>
              </a:rPr>
              <a:t>后验证为保质量拦掉不少话术，可用推荐量被过滤过多。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666666"/>
                </a:solidFill>
                <a:latin typeface="Microsoft YaHei"/>
              </a:rPr>
              <a:t>一个产品问题，</a:t>
            </a:r>
            <a:r>
              <a:rPr sz="1600" b="1">
                <a:solidFill>
                  <a:srgbClr val="C00000"/>
                </a:solidFill>
                <a:latin typeface="Microsoft YaHei"/>
              </a:rPr>
              <a:t>一半在技术，一半在人</a:t>
            </a:r>
            <a:r>
              <a:rPr sz="1600" b="0">
                <a:solidFill>
                  <a:srgbClr val="666666"/>
                </a:solidFill>
                <a:latin typeface="Microsoft Ya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我们做了什么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What we did &amp; what's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3383280" cy="91440"/>
          </a:xfrm>
          <a:prstGeom prst="rect">
            <a:avLst/>
          </a:prstGeom>
          <a:solidFill>
            <a:srgbClr val="FF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04288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A 优化工作流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2926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补充闲聊/安抚类话术；禁止“收到”“稍等”类废话。闲聊能力上线后曲线明显抬升。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116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011680"/>
            <a:ext cx="3383280" cy="91440"/>
          </a:xfrm>
          <a:prstGeom prst="rect">
            <a:avLst/>
          </a:prstGeom>
          <a:solidFill>
            <a:srgbClr val="FF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04288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B 补高频知识库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971800"/>
            <a:ext cx="2926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针对高频场景补充识别与话术，提高推荐命中率。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383280" cy="91440"/>
          </a:xfrm>
          <a:prstGeom prst="rect">
            <a:avLst/>
          </a:prstGeom>
          <a:solidFill>
            <a:srgbClr val="FF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304288"/>
            <a:ext cx="29260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C 调拦截策略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971800"/>
            <a:ext cx="292608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保证质量前提下释放推荐量，平衡“可用率”与“覆盖率”。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09160"/>
            <a:ext cx="10515600" cy="914400"/>
          </a:xfrm>
          <a:prstGeom prst="roundRect">
            <a:avLst/>
          </a:prstGeom>
          <a:solidFill>
            <a:srgbClr val="F7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4632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icrosoft YaHei"/>
              </a:rPr>
              <a:t>→ 规划中：二次动态 VOC 总结调用 skill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不再只调一次工具——玩家意图变了，系统按「信息量」动态再识别一次、再调一次，自动纠偏。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FF7600"/>
                </a:solidFill>
                <a:latin typeface="Microsoft YaHei"/>
              </a:rPr>
              <a:t>03 · 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同样一袋面粉，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可以做成</a:t>
            </a:r>
            <a:r>
              <a:rPr sz="3400" b="1">
                <a:solidFill>
                  <a:srgbClr val="FF7600"/>
                </a:solidFill>
                <a:latin typeface="Microsoft YaHei"/>
              </a:rPr>
              <a:t>馒头</a:t>
            </a:r>
            <a:r>
              <a:rPr sz="3400" b="1">
                <a:solidFill>
                  <a:srgbClr val="FFFFFF"/>
                </a:solidFill>
                <a:latin typeface="Microsoft YaHei"/>
              </a:rPr>
              <a:t>，也可以做成</a:t>
            </a:r>
            <a:r>
              <a:rPr sz="3400" b="1">
                <a:solidFill>
                  <a:srgbClr val="FF7600"/>
                </a:solidFill>
                <a:latin typeface="Microsoft YaHei"/>
              </a:rPr>
              <a:t>蛋糕</a:t>
            </a:r>
            <a:r>
              <a:rPr sz="3400" b="1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latin typeface="Microsoft YaHei"/>
              </a:rPr>
              <a:t>原料没变，关键看你怎么塑造、放在什么位置。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latin typeface="Microsoft YaHei"/>
              </a:rPr>
              <a:t>—— 同样的 AX 工具结果，提示词与方法不同，做出的话术天差地别；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CCCCCC"/>
                </a:solidFill>
                <a:latin typeface="Microsoft YaHei"/>
              </a:rPr>
              <a:t>—— 同样的客服，不该被钉死在“打字员”，他可以是盯盘的指挥官。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原料相同，成果不同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Same flour, different cake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49377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404040"/>
                </a:solidFill>
                <a:latin typeface="Microsoft YaHei"/>
              </a:rPr>
              <a:t>🌾 同样的“面粉”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2608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=  同一份 AX 工具结果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6616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=  同一个大模型底座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0624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=  同一批客服同事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80"/>
            <a:ext cx="4937760" cy="3108960"/>
          </a:xfrm>
          <a:prstGeom prst="roundRect">
            <a:avLst/>
          </a:prstGeom>
          <a:solidFill>
            <a:srgbClr val="F7E9E9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240280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Microsoft YaHei"/>
              </a:rPr>
              <a:t>🎂 不同的“蛋糕”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92608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  <a:latin typeface="Microsoft YaHei"/>
              </a:rPr>
              <a:t>▲  提示词/方法变通 → 话术可用率翻倍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6616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  <a:latin typeface="Microsoft YaHei"/>
              </a:rPr>
              <a:t>▲  流程变通 → 二次 VOC 自动纠偏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06240"/>
            <a:ext cx="42976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  <a:latin typeface="Microsoft YaHei"/>
              </a:rPr>
              <a:t>▲  角色变通 → 客服从“回复”到“盯盘”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基础资源是一样的，</a:t>
            </a:r>
            <a:r>
              <a:rPr sz="1400" b="1">
                <a:solidFill>
                  <a:srgbClr val="C00000"/>
                </a:solidFill>
                <a:latin typeface="Microsoft YaHei"/>
              </a:rPr>
              <a:t>思路与方法不同，结果完全不同</a:t>
            </a:r>
            <a:r>
              <a:rPr sz="1400" b="0">
                <a:solidFill>
                  <a:srgbClr val="666666"/>
                </a:solidFill>
                <a:latin typeface="Microsoft YaHei"/>
              </a:rPr>
              <a:t> —— 这就是产品运营的价值。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沉淀下来的四条方法论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Methodology distilled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47672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04040"/>
                </a:solidFill>
                <a:latin typeface="Microsoft YaHei"/>
              </a:rPr>
              <a:t>先看上游，再看下游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377440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采纳率低不一定是 chatbot 的锅——顺着 VOC→工具→话术追根因，别在最后一环死磕。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35808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71800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04040"/>
                </a:solidFill>
                <a:latin typeface="Microsoft YaHei"/>
              </a:rPr>
              <a:t>用数据说话，小步快跑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01568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每次优化(闲聊、提示词)都能在曲线上看到跳变。先建指标，再谈优化。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05993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59936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95928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04040"/>
                </a:solidFill>
                <a:latin typeface="Microsoft YaHei"/>
              </a:rPr>
              <a:t>技术问题，一半在人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25696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客服不用，再好的推荐也是 0。降低操作成本、建立信任，和模型同等重要。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5084064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84064"/>
            <a:ext cx="384048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0056"/>
            <a:ext cx="10058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404040"/>
                </a:solidFill>
                <a:latin typeface="Microsoft YaHei"/>
              </a:rPr>
              <a:t>学会变通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449824"/>
            <a:ext cx="10058400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同样的原料，换个思路就是另一个成果。面粉可以是蛋糕，客服可以是指挥官。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66928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从手动回复，到全托管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Manual → Co-pilot → Auto-pilot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3383280" cy="2377440"/>
          </a:xfrm>
          <a:prstGeom prst="roundRect">
            <a:avLst/>
          </a:prstGeom>
          <a:solidFill>
            <a:srgbClr val="F7E9E9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331720"/>
            <a:ext cx="914400" cy="3657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9144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现在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手动辅助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2926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客服逐条点击「一键发送/复制」使用推荐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2103120"/>
            <a:ext cx="320040" cy="2377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103120"/>
            <a:ext cx="3383280" cy="2377440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FF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2331720"/>
            <a:ext cx="914400" cy="365760"/>
          </a:xfrm>
          <a:prstGeom prst="roundRect">
            <a:avLst/>
          </a:prstGeom>
          <a:solidFill>
            <a:srgbClr val="FF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331720"/>
            <a:ext cx="9144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7180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  <a:latin typeface="Microsoft YaHei"/>
              </a:rPr>
              <a:t>半托管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20440"/>
            <a:ext cx="2926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Microsoft YaHei"/>
              </a:rPr>
              <a:t>高置信话术自动发；低置信/有风险才提醒客服介入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103120"/>
            <a:ext cx="320040" cy="23774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C00000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103120"/>
            <a:ext cx="3383280" cy="2377440"/>
          </a:xfrm>
          <a:prstGeom prst="roundRect">
            <a:avLst/>
          </a:prstGeom>
          <a:solidFill>
            <a:srgbClr val="1A1A1B"/>
          </a:solidFill>
          <a:ln w="12700">
            <a:solidFill>
              <a:srgbClr val="FF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58200" y="2331720"/>
            <a:ext cx="914400" cy="365760"/>
          </a:xfrm>
          <a:prstGeom prst="roundRect">
            <a:avLst/>
          </a:prstGeom>
          <a:solidFill>
            <a:srgbClr val="FF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331720"/>
            <a:ext cx="9144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愿景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71800"/>
            <a:ext cx="3383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全托管 · 智能盯盘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520440"/>
            <a:ext cx="29260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CCCCCC"/>
                </a:solidFill>
                <a:latin typeface="Microsoft YaHei"/>
              </a:rPr>
              <a:t>机器人自动在发，没“堵车”不打扰；一个客服盯更多会话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Microsoft YaHei"/>
              </a:rPr>
              <a:t>核心理念：没有卡点就自动流转，有“堵车”(准确率低/有风险/需抉择)才提醒人介入。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27432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0" b="1">
                <a:solidFill>
                  <a:srgbClr val="C00000"/>
                </a:solidFill>
                <a:latin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好的</a:t>
            </a:r>
            <a:r>
              <a:rPr sz="3600" b="1">
                <a:solidFill>
                  <a:srgbClr val="FF7600"/>
                </a:solidFill>
                <a:latin typeface="Microsoft YaHei"/>
              </a:rPr>
              <a:t>问题</a:t>
            </a:r>
            <a:r>
              <a:rPr sz="3600" b="1">
                <a:solidFill>
                  <a:srgbClr val="FFFFFF"/>
                </a:solidFill>
                <a:latin typeface="Microsoft YaHei"/>
              </a:rPr>
              <a:t>，比答案更重要。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747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AAAAAA"/>
                </a:solidFill>
                <a:latin typeface="Microsoft YaHei"/>
              </a:rPr>
              <a:t>— 写在公司饭堂墙上的一句话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1033272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latin typeface="Microsoft YaHei"/>
              </a:rPr>
              <a:t>过去我们一直问：“怎么让话术更准？”但真正该问的也许是：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CCCCCC"/>
                </a:solidFill>
                <a:latin typeface="Microsoft YaHei"/>
              </a:rPr>
              <a:t>“客服到底需要什么样的辅助？”“我们用什么指标衡量它真的有用？”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03327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>
                <a:solidFill>
                  <a:srgbClr val="404040"/>
                </a:solidFill>
                <a:latin typeface="Microsoft YaHei"/>
              </a:rPr>
              <a:t>AI 的「下半场」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33272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From how to solve to what's worth solving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77240" cy="5486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0000"/>
                </a:solidFill>
                <a:latin typeface="Microsoft YaHei"/>
              </a:rPr>
              <a:t>升华 · The Second Half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49377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666666"/>
                </a:solidFill>
                <a:latin typeface="Microsoft YaHei"/>
              </a:rPr>
              <a:t>上半场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389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比拼怎么解题 —— 更强的模型、更高的准确率、更好的话术。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011680"/>
            <a:ext cx="4937760" cy="2011680"/>
          </a:xfrm>
          <a:prstGeom prst="roundRect">
            <a:avLst/>
          </a:prstGeom>
          <a:solidFill>
            <a:srgbClr val="F7E9E9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286000"/>
            <a:ext cx="43891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Microsoft YaHei"/>
              </a:rPr>
              <a:t>下半场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926080"/>
            <a:ext cx="43891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  <a:latin typeface="Microsoft YaHei"/>
              </a:rPr>
              <a:t>比拼定义对的问题 —— 该解决什么、怎么衡量价值、如何重塑人与 AI 的协作。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666666"/>
                </a:solidFill>
                <a:latin typeface="Microsoft YaHei"/>
              </a:rPr>
              <a:t>姚顺雨说，AI 的下半场，瓶颈不再是“能不能做到”，而是“做什么、怎么定义成功”。</a:t>
            </a:r>
          </a:p>
          <a:p>
            <a:pPr algn="ctr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C00000"/>
                </a:solidFill>
                <a:latin typeface="Microsoft YaHei"/>
              </a:rPr>
              <a:t>chatbot 的下半场，不是更准的话术，而是 —— 重新定义客服与机器的关系。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640080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网易游戏 · 精灵运营部 · 客服业务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1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面粉一样，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</a:rPr>
              <a:t>但我们要做最好的那块蛋糕。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100584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EEEE"/>
                </a:solidFill>
                <a:latin typeface="Microsoft YaHei"/>
              </a:rPr>
              <a:t>Thanks · Q&amp;A    |    提问 · 讨论 · 一起把最后一环做扎实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6400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DDDD"/>
                </a:solidFill>
                <a:latin typeface="Microsoft YaHei"/>
              </a:rPr>
              <a:t>网易游戏 · 精灵运营部 · 客服业务  |  邱梓涛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FFCCCC"/>
                </a:solidFill>
                <a:latin typeface="Microsoft YaHei"/>
              </a:rPr>
              <a:t>—— 网易内部商业机密，请勿外传 ——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